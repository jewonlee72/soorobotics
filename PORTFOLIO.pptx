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0"/>
  </p:notesMasterIdLst>
  <p:sldIdLst>
    <p:sldId id="256" r:id="rId2"/>
    <p:sldId id="257" r:id="rId3"/>
    <p:sldId id="276" r:id="rId4"/>
    <p:sldId id="275" r:id="rId5"/>
    <p:sldId id="272" r:id="rId6"/>
    <p:sldId id="271" r:id="rId7"/>
    <p:sldId id="258" r:id="rId8"/>
    <p:sldId id="270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 autoAdjust="0"/>
    <p:restoredTop sz="94689"/>
  </p:normalViewPr>
  <p:slideViewPr>
    <p:cSldViewPr>
      <p:cViewPr varScale="1">
        <p:scale>
          <a:sx n="39" d="100"/>
          <a:sy n="39" d="100"/>
        </p:scale>
        <p:origin x="1186" y="259"/>
      </p:cViewPr>
      <p:guideLst>
        <p:guide orient="horz" pos="161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360B5-068A-4CD9-A515-AAEE8A59A473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3C46A9-C16E-4122-990C-E506C2E1B0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877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5FE8D-B5BC-435C-B81F-D5234D76CE9D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61D93-2BD5-481A-8266-1FBBD2EF74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6621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5FE8D-B5BC-435C-B81F-D5234D76CE9D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61D93-2BD5-481A-8266-1FBBD2EF74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728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5FE8D-B5BC-435C-B81F-D5234D76CE9D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61D93-2BD5-481A-8266-1FBBD2EF74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6802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5FE8D-B5BC-435C-B81F-D5234D76CE9D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61D93-2BD5-481A-8266-1FBBD2EF74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963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5FE8D-B5BC-435C-B81F-D5234D76CE9D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61D93-2BD5-481A-8266-1FBBD2EF74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827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5FE8D-B5BC-435C-B81F-D5234D76CE9D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61D93-2BD5-481A-8266-1FBBD2EF74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107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5FE8D-B5BC-435C-B81F-D5234D76CE9D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61D93-2BD5-481A-8266-1FBBD2EF74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576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5FE8D-B5BC-435C-B81F-D5234D76CE9D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61D93-2BD5-481A-8266-1FBBD2EF74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065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5FE8D-B5BC-435C-B81F-D5234D76CE9D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61D93-2BD5-481A-8266-1FBBD2EF74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654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5FE8D-B5BC-435C-B81F-D5234D76CE9D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61D93-2BD5-481A-8266-1FBBD2EF74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9147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5FE8D-B5BC-435C-B81F-D5234D76CE9D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61D93-2BD5-481A-8266-1FBBD2EF74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62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5FE8D-B5BC-435C-B81F-D5234D76CE9D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961D93-2BD5-481A-8266-1FBBD2EF74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8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brosmall.com/product/list.html?cate_no=92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600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PORTFOLIO</a:t>
            </a:r>
            <a:endParaRPr lang="ko-KR" altLang="en-US" sz="6000" dirty="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979712" y="2517744"/>
            <a:ext cx="6400800" cy="359178"/>
          </a:xfrm>
        </p:spPr>
        <p:txBody>
          <a:bodyPr>
            <a:normAutofit fontScale="62500" lnSpcReduction="20000"/>
          </a:bodyPr>
          <a:lstStyle/>
          <a:p>
            <a:pPr algn="r"/>
            <a:r>
              <a:rPr lang="en-US" altLang="ko-KR" sz="2600" dirty="0">
                <a:solidFill>
                  <a:schemeClr val="bg1"/>
                </a:solidFill>
              </a:rPr>
              <a:t>by</a:t>
            </a:r>
            <a:r>
              <a:rPr lang="en-US" altLang="ko-KR" dirty="0">
                <a:solidFill>
                  <a:schemeClr val="bg1"/>
                </a:solidFill>
              </a:rPr>
              <a:t> Jewon Lee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0113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65571"/>
          </a:xfrm>
        </p:spPr>
        <p:txBody>
          <a:bodyPr>
            <a:normAutofit/>
          </a:bodyPr>
          <a:lstStyle/>
          <a:p>
            <a:r>
              <a:rPr lang="ko-KR" altLang="en-US" sz="3000" dirty="0"/>
              <a:t>목차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4572000" y="1098636"/>
            <a:ext cx="0" cy="3381326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1" name="모서리가 둥근 직사각형 40"/>
          <p:cNvSpPr/>
          <p:nvPr/>
        </p:nvSpPr>
        <p:spPr>
          <a:xfrm>
            <a:off x="649267" y="1622725"/>
            <a:ext cx="3204356" cy="63253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농업 방제용 멀티콥터</a:t>
            </a:r>
          </a:p>
        </p:txBody>
      </p:sp>
      <p:sp>
        <p:nvSpPr>
          <p:cNvPr id="48" name="모서리가 둥근 직사각형 47"/>
          <p:cNvSpPr/>
          <p:nvPr/>
        </p:nvSpPr>
        <p:spPr>
          <a:xfrm>
            <a:off x="652303" y="2430710"/>
            <a:ext cx="3198284" cy="63253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가변피치 엔진구동 멀티콥터</a:t>
            </a:r>
            <a:endParaRPr lang="ko-KR" altLang="en-US" dirty="0"/>
          </a:p>
        </p:txBody>
      </p:sp>
      <p:sp>
        <p:nvSpPr>
          <p:cNvPr id="49" name="모서리가 둥근 직사각형 48"/>
          <p:cNvSpPr/>
          <p:nvPr/>
        </p:nvSpPr>
        <p:spPr>
          <a:xfrm>
            <a:off x="652303" y="3238696"/>
            <a:ext cx="3198284" cy="63253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전지형 이동수단</a:t>
            </a:r>
          </a:p>
        </p:txBody>
      </p:sp>
      <p:sp>
        <p:nvSpPr>
          <p:cNvPr id="50" name="모서리가 둥근 직사각형 49"/>
          <p:cNvSpPr/>
          <p:nvPr/>
        </p:nvSpPr>
        <p:spPr>
          <a:xfrm>
            <a:off x="652303" y="4046682"/>
            <a:ext cx="3198284" cy="63253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휠체어 보조장치</a:t>
            </a:r>
          </a:p>
        </p:txBody>
      </p:sp>
      <p:sp>
        <p:nvSpPr>
          <p:cNvPr id="51" name="모서리가 둥근 직사각형 50"/>
          <p:cNvSpPr/>
          <p:nvPr/>
        </p:nvSpPr>
        <p:spPr>
          <a:xfrm>
            <a:off x="5303026" y="782367"/>
            <a:ext cx="3198284" cy="63253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위성추적장치</a:t>
            </a:r>
          </a:p>
        </p:txBody>
      </p:sp>
      <p:sp>
        <p:nvSpPr>
          <p:cNvPr id="52" name="모서리가 둥근 직사각형 51"/>
          <p:cNvSpPr/>
          <p:nvPr/>
        </p:nvSpPr>
        <p:spPr>
          <a:xfrm>
            <a:off x="5296449" y="1622725"/>
            <a:ext cx="3198284" cy="63253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경주차용 </a:t>
            </a:r>
            <a:r>
              <a:rPr lang="en-US" altLang="ko-KR" dirty="0"/>
              <a:t>Data Logger</a:t>
            </a:r>
            <a:endParaRPr lang="ko-KR" altLang="en-US" dirty="0"/>
          </a:p>
        </p:txBody>
      </p:sp>
      <p:sp>
        <p:nvSpPr>
          <p:cNvPr id="53" name="모서리가 둥근 직사각형 52"/>
          <p:cNvSpPr/>
          <p:nvPr/>
        </p:nvSpPr>
        <p:spPr>
          <a:xfrm>
            <a:off x="5296449" y="2439050"/>
            <a:ext cx="3198284" cy="63253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실내 위치 추적 시스템</a:t>
            </a:r>
          </a:p>
        </p:txBody>
      </p:sp>
      <p:sp>
        <p:nvSpPr>
          <p:cNvPr id="54" name="모서리가 둥근 직사각형 53"/>
          <p:cNvSpPr/>
          <p:nvPr/>
        </p:nvSpPr>
        <p:spPr>
          <a:xfrm>
            <a:off x="5296449" y="3255375"/>
            <a:ext cx="3198284" cy="63253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헬리콥터 오토파일럿</a:t>
            </a:r>
          </a:p>
        </p:txBody>
      </p:sp>
      <p:sp>
        <p:nvSpPr>
          <p:cNvPr id="55" name="모서리가 둥근 직사각형 54"/>
          <p:cNvSpPr/>
          <p:nvPr/>
        </p:nvSpPr>
        <p:spPr>
          <a:xfrm>
            <a:off x="5296449" y="4071700"/>
            <a:ext cx="3198284" cy="63253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AHRS/INS</a:t>
            </a:r>
            <a:endParaRPr lang="ko-KR" altLang="en-US" dirty="0"/>
          </a:p>
        </p:txBody>
      </p:sp>
      <p:sp>
        <p:nvSpPr>
          <p:cNvPr id="13" name="모서리가 둥근 직사각형 40">
            <a:extLst>
              <a:ext uri="{FF2B5EF4-FFF2-40B4-BE49-F238E27FC236}">
                <a16:creationId xmlns:a16="http://schemas.microsoft.com/office/drawing/2014/main" id="{DE17368C-359D-47AB-B974-8E80E94A91C7}"/>
              </a:ext>
            </a:extLst>
          </p:cNvPr>
          <p:cNvSpPr/>
          <p:nvPr/>
        </p:nvSpPr>
        <p:spPr>
          <a:xfrm>
            <a:off x="636619" y="782367"/>
            <a:ext cx="3204356" cy="63253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하이브리드멀티콥터</a:t>
            </a:r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78307B-39DA-4DD2-8E5D-65BF8BE28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ko-KR" altLang="en-US" sz="600" dirty="0"/>
              <a:t>최종 </a:t>
            </a:r>
            <a:r>
              <a:rPr lang="en-US" altLang="ko-KR" sz="600" dirty="0"/>
              <a:t>update : </a:t>
            </a:r>
            <a:fld id="{DA1C9217-718F-4446-8F04-EF75E48F0784}" type="datetime1">
              <a:rPr lang="ko-KR" altLang="en-US" sz="600" smtClean="0"/>
              <a:t>2026-04-20</a:t>
            </a:fld>
            <a:endParaRPr lang="ko-KR" altLang="en-US" sz="600" dirty="0"/>
          </a:p>
        </p:txBody>
      </p:sp>
    </p:spTree>
    <p:extLst>
      <p:ext uri="{BB962C8B-B14F-4D97-AF65-F5344CB8AC3E}">
        <p14:creationId xmlns:p14="http://schemas.microsoft.com/office/powerpoint/2010/main" val="76371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DCD76F-5212-41E8-B469-50C5CB993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86766"/>
            <a:ext cx="5915025" cy="558913"/>
          </a:xfrm>
        </p:spPr>
        <p:txBody>
          <a:bodyPr>
            <a:noAutofit/>
          </a:bodyPr>
          <a:lstStyle/>
          <a:p>
            <a:r>
              <a:rPr lang="en-US" altLang="ko-KR" sz="35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발레리나" panose="02020600000000000000" pitchFamily="18" charset="-127"/>
                <a:ea typeface="a발레리나" panose="02020600000000000000" pitchFamily="18" charset="-127"/>
              </a:rPr>
              <a:t>HYB3(2021)</a:t>
            </a:r>
            <a:endParaRPr lang="ko-KR" altLang="en-US" sz="35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0EC8439-370F-40E8-93C7-658C813C5411}"/>
              </a:ext>
            </a:extLst>
          </p:cNvPr>
          <p:cNvSpPr/>
          <p:nvPr/>
        </p:nvSpPr>
        <p:spPr>
          <a:xfrm>
            <a:off x="4636733" y="673670"/>
            <a:ext cx="3644618" cy="3489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>
                <a:latin typeface="a발레리나" panose="02020600000000000000" pitchFamily="18" charset="-127"/>
                <a:ea typeface="a발레리나" panose="02020600000000000000" pitchFamily="18" charset="-127"/>
              </a:rPr>
              <a:t>특징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87A4D7-3782-4C70-A25E-5EB3B2A8F0CA}"/>
              </a:ext>
            </a:extLst>
          </p:cNvPr>
          <p:cNvSpPr/>
          <p:nvPr/>
        </p:nvSpPr>
        <p:spPr>
          <a:xfrm>
            <a:off x="4636733" y="1087387"/>
            <a:ext cx="3644618" cy="15289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4313" indent="-214313">
              <a:lnSpc>
                <a:spcPct val="200000"/>
              </a:lnSpc>
              <a:buFontTx/>
              <a:buChar char="-"/>
            </a:pPr>
            <a:r>
              <a:rPr lang="ko-KR" altLang="en-US" sz="1350" dirty="0">
                <a:latin typeface="a발레리나" panose="02020600000000000000" pitchFamily="18" charset="-127"/>
                <a:ea typeface="a발레리나" panose="02020600000000000000" pitchFamily="18" charset="-127"/>
              </a:rPr>
              <a:t>휘발유</a:t>
            </a:r>
            <a:r>
              <a:rPr lang="en-US" altLang="ko-KR" sz="1350" dirty="0">
                <a:latin typeface="a발레리나" panose="02020600000000000000" pitchFamily="18" charset="-127"/>
                <a:ea typeface="a발레리나" panose="02020600000000000000" pitchFamily="18" charset="-127"/>
              </a:rPr>
              <a:t>/</a:t>
            </a:r>
            <a:r>
              <a:rPr lang="ko-KR" altLang="en-US" sz="1350" dirty="0">
                <a:latin typeface="a발레리나" panose="02020600000000000000" pitchFamily="18" charset="-127"/>
                <a:ea typeface="a발레리나" panose="02020600000000000000" pitchFamily="18" charset="-127"/>
              </a:rPr>
              <a:t>전기 병렬 하이브리드</a:t>
            </a:r>
            <a:endParaRPr lang="en-US" altLang="ko-KR" sz="1350" dirty="0">
              <a:latin typeface="a발레리나" panose="02020600000000000000" pitchFamily="18" charset="-127"/>
              <a:ea typeface="a발레리나" panose="02020600000000000000" pitchFamily="18" charset="-127"/>
            </a:endParaRPr>
          </a:p>
          <a:p>
            <a:pPr marL="214313" indent="-214313">
              <a:lnSpc>
                <a:spcPct val="200000"/>
              </a:lnSpc>
              <a:buFontTx/>
              <a:buChar char="-"/>
            </a:pPr>
            <a:r>
              <a:rPr lang="en-US" altLang="ko-KR" sz="1350" dirty="0">
                <a:latin typeface="a발레리나" panose="02020600000000000000" pitchFamily="18" charset="-127"/>
                <a:ea typeface="a발레리나" panose="02020600000000000000" pitchFamily="18" charset="-127"/>
              </a:rPr>
              <a:t>5</a:t>
            </a:r>
            <a:r>
              <a:rPr lang="ko-KR" altLang="en-US" sz="1350" dirty="0">
                <a:latin typeface="a발레리나" panose="02020600000000000000" pitchFamily="18" charset="-127"/>
                <a:ea typeface="a발레리나" panose="02020600000000000000" pitchFamily="18" charset="-127"/>
              </a:rPr>
              <a:t>시간 이상 비행</a:t>
            </a:r>
            <a:endParaRPr lang="en-US" altLang="ko-KR" sz="1350" dirty="0">
              <a:latin typeface="a발레리나" panose="02020600000000000000" pitchFamily="18" charset="-127"/>
              <a:ea typeface="a발레리나" panose="02020600000000000000" pitchFamily="18" charset="-127"/>
            </a:endParaRPr>
          </a:p>
          <a:p>
            <a:pPr marL="214313" indent="-214313">
              <a:lnSpc>
                <a:spcPct val="200000"/>
              </a:lnSpc>
              <a:buFontTx/>
              <a:buChar char="-"/>
            </a:pPr>
            <a:r>
              <a:rPr lang="ko-KR" altLang="en-US" sz="1350" dirty="0">
                <a:latin typeface="a발레리나" panose="02020600000000000000" pitchFamily="18" charset="-127"/>
                <a:ea typeface="a발레리나" panose="02020600000000000000" pitchFamily="18" charset="-127"/>
              </a:rPr>
              <a:t>최대 페이로드 </a:t>
            </a:r>
            <a:r>
              <a:rPr lang="en-US" altLang="ko-KR" sz="1350" dirty="0">
                <a:latin typeface="a발레리나" panose="02020600000000000000" pitchFamily="18" charset="-127"/>
                <a:ea typeface="a발레리나" panose="02020600000000000000" pitchFamily="18" charset="-127"/>
              </a:rPr>
              <a:t>30Kg</a:t>
            </a:r>
            <a:endParaRPr lang="ko-KR" altLang="en-US" sz="1350" dirty="0">
              <a:latin typeface="a발레리나" panose="02020600000000000000" pitchFamily="18" charset="-127"/>
              <a:ea typeface="a발레리나" panose="02020600000000000000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4CF60DF-00D5-4F2C-BE58-5D19DDF0A3E5}"/>
              </a:ext>
            </a:extLst>
          </p:cNvPr>
          <p:cNvSpPr/>
          <p:nvPr/>
        </p:nvSpPr>
        <p:spPr>
          <a:xfrm>
            <a:off x="934812" y="645679"/>
            <a:ext cx="3553214" cy="2035421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latin typeface="a발레리나" panose="02020600000000000000" pitchFamily="18" charset="-127"/>
              <a:ea typeface="a발레리나" panose="02020600000000000000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395344-C76E-434B-AE10-028AAD59B4FB}"/>
              </a:ext>
            </a:extLst>
          </p:cNvPr>
          <p:cNvSpPr/>
          <p:nvPr/>
        </p:nvSpPr>
        <p:spPr>
          <a:xfrm>
            <a:off x="4572000" y="645679"/>
            <a:ext cx="3781357" cy="2035421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latin typeface="a발레리나" panose="02020600000000000000" pitchFamily="18" charset="-127"/>
              <a:ea typeface="a발레리나" panose="02020600000000000000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9985E7A-81DE-4012-89AF-80728ABF3F21}"/>
              </a:ext>
            </a:extLst>
          </p:cNvPr>
          <p:cNvSpPr/>
          <p:nvPr/>
        </p:nvSpPr>
        <p:spPr>
          <a:xfrm>
            <a:off x="934811" y="2745903"/>
            <a:ext cx="7418547" cy="219976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121EC64-3248-497F-BF3B-C53CA13A305D}"/>
              </a:ext>
            </a:extLst>
          </p:cNvPr>
          <p:cNvSpPr/>
          <p:nvPr/>
        </p:nvSpPr>
        <p:spPr>
          <a:xfrm>
            <a:off x="990794" y="2792700"/>
            <a:ext cx="2407298" cy="3489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>
                <a:latin typeface="a발레리나" panose="02020600000000000000" pitchFamily="18" charset="-127"/>
                <a:ea typeface="a발레리나" panose="02020600000000000000" pitchFamily="18" charset="-127"/>
              </a:rPr>
              <a:t>사양</a:t>
            </a:r>
          </a:p>
        </p:txBody>
      </p:sp>
      <p:graphicFrame>
        <p:nvGraphicFramePr>
          <p:cNvPr id="16" name="표 16">
            <a:extLst>
              <a:ext uri="{FF2B5EF4-FFF2-40B4-BE49-F238E27FC236}">
                <a16:creationId xmlns:a16="http://schemas.microsoft.com/office/drawing/2014/main" id="{DF3FF0B9-F982-4D65-A5A8-2F21C0C30C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521073"/>
              </p:ext>
            </p:extLst>
          </p:nvPr>
        </p:nvGraphicFramePr>
        <p:xfrm>
          <a:off x="997792" y="3208330"/>
          <a:ext cx="7283559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0258">
                  <a:extLst>
                    <a:ext uri="{9D8B030D-6E8A-4147-A177-3AD203B41FA5}">
                      <a16:colId xmlns:a16="http://schemas.microsoft.com/office/drawing/2014/main" val="3508995977"/>
                    </a:ext>
                  </a:extLst>
                </a:gridCol>
                <a:gridCol w="5853301">
                  <a:extLst>
                    <a:ext uri="{9D8B030D-6E8A-4147-A177-3AD203B41FA5}">
                      <a16:colId xmlns:a16="http://schemas.microsoft.com/office/drawing/2014/main" val="2477059739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최대이륙중량</a:t>
                      </a:r>
                    </a:p>
                  </a:txBody>
                  <a:tcPr marL="68580" marR="68580" marT="34290" marB="3429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70.0Kg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a발레리나" panose="02020600000000000000" pitchFamily="18" charset="-127"/>
                        <a:ea typeface="a발레리나" panose="02020600000000000000" pitchFamily="18" charset="-127"/>
                      </a:endParaRPr>
                    </a:p>
                  </a:txBody>
                  <a:tcPr marL="68580" marR="68580" marT="34290" marB="3429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465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자체중량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40Kg</a:t>
                      </a:r>
                      <a:endParaRPr lang="ko-KR" altLang="en-US" sz="1200" dirty="0">
                        <a:latin typeface="a발레리나" panose="02020600000000000000" pitchFamily="18" charset="-127"/>
                        <a:ea typeface="a발레리나" panose="02020600000000000000" pitchFamily="18" charset="-127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4784852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페이로드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최대 </a:t>
                      </a:r>
                      <a:r>
                        <a:rPr lang="en-US" altLang="ko-KR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30Kg</a:t>
                      </a:r>
                      <a:endParaRPr lang="ko-KR" altLang="en-US" sz="1200" dirty="0">
                        <a:latin typeface="a발레리나" panose="02020600000000000000" pitchFamily="18" charset="-127"/>
                        <a:ea typeface="a발레리나" panose="02020600000000000000" pitchFamily="18" charset="-127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4307526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크기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1675x1675x655 mm (</a:t>
                      </a:r>
                      <a:r>
                        <a:rPr lang="en-US" altLang="ko-KR" sz="1200" dirty="0" err="1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LxWxH</a:t>
                      </a:r>
                      <a:r>
                        <a:rPr lang="en-US" altLang="ko-KR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), </a:t>
                      </a:r>
                      <a:r>
                        <a:rPr lang="ko-KR" altLang="en-US" sz="1200" dirty="0" err="1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휠베이스</a:t>
                      </a:r>
                      <a:r>
                        <a:rPr lang="ko-KR" altLang="en-US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 </a:t>
                      </a:r>
                      <a:r>
                        <a:rPr lang="en-US" altLang="ko-KR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1220mm</a:t>
                      </a:r>
                      <a:endParaRPr lang="ko-KR" altLang="en-US" sz="1200" dirty="0">
                        <a:latin typeface="a발레리나" panose="02020600000000000000" pitchFamily="18" charset="-127"/>
                        <a:ea typeface="a발레리나" panose="02020600000000000000" pitchFamily="18" charset="-127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6753247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작동환경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온도</a:t>
                      </a:r>
                      <a:r>
                        <a:rPr lang="en-US" altLang="ko-KR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(</a:t>
                      </a:r>
                      <a:r>
                        <a:rPr lang="ko-KR" altLang="en-US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섭씨 </a:t>
                      </a:r>
                      <a:r>
                        <a:rPr lang="en-US" altLang="ko-KR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0~35</a:t>
                      </a:r>
                      <a:r>
                        <a:rPr lang="ko-KR" altLang="en-US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도</a:t>
                      </a:r>
                      <a:r>
                        <a:rPr lang="en-US" altLang="ko-KR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), </a:t>
                      </a:r>
                      <a:r>
                        <a:rPr lang="ko-KR" altLang="en-US" sz="1200" dirty="0" err="1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내풍성</a:t>
                      </a:r>
                      <a:r>
                        <a:rPr lang="en-US" altLang="ko-KR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(14m/s), IP54, </a:t>
                      </a:r>
                      <a:r>
                        <a:rPr lang="ko-KR" altLang="en-US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극한 환경버전 제작가능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56523499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임무장비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카메라</a:t>
                      </a:r>
                      <a:r>
                        <a:rPr lang="en-US" altLang="ko-KR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, EO/IR, </a:t>
                      </a:r>
                      <a:r>
                        <a:rPr lang="ko-KR" altLang="en-US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살포장치</a:t>
                      </a:r>
                      <a:r>
                        <a:rPr lang="en-US" altLang="ko-KR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, </a:t>
                      </a:r>
                      <a:r>
                        <a:rPr lang="ko-KR" altLang="en-US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보조연료통</a:t>
                      </a:r>
                      <a:r>
                        <a:rPr lang="en-US" altLang="ko-KR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, </a:t>
                      </a:r>
                      <a:r>
                        <a:rPr lang="ko-KR" altLang="en-US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해상운용 </a:t>
                      </a:r>
                      <a:r>
                        <a:rPr lang="ko-KR" altLang="en-US" sz="1200" dirty="0" err="1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부력통</a:t>
                      </a:r>
                      <a:r>
                        <a:rPr lang="ko-KR" altLang="en-US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 등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68490643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3F4C0516-E51C-4C8D-B44C-6F78D467F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788" y="725364"/>
            <a:ext cx="3425696" cy="186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995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DCD76F-5212-41E8-B469-50C5CB993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86766"/>
            <a:ext cx="5915025" cy="558913"/>
          </a:xfrm>
        </p:spPr>
        <p:txBody>
          <a:bodyPr>
            <a:noAutofit/>
          </a:bodyPr>
          <a:lstStyle/>
          <a:p>
            <a:r>
              <a:rPr lang="en-US" altLang="ko-KR" sz="35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발레리나" panose="02020600000000000000" pitchFamily="18" charset="-127"/>
                <a:ea typeface="a발레리나" panose="02020600000000000000" pitchFamily="18" charset="-127"/>
              </a:rPr>
              <a:t>HYB1-V2</a:t>
            </a:r>
            <a:r>
              <a:rPr lang="en-US" altLang="ko-KR" sz="3500" dirty="0"/>
              <a:t>(2021)</a:t>
            </a:r>
            <a:endParaRPr lang="ko-KR" altLang="en-US" sz="35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0EC8439-370F-40E8-93C7-658C813C5411}"/>
              </a:ext>
            </a:extLst>
          </p:cNvPr>
          <p:cNvSpPr/>
          <p:nvPr/>
        </p:nvSpPr>
        <p:spPr>
          <a:xfrm>
            <a:off x="4502530" y="733204"/>
            <a:ext cx="3752630" cy="3489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>
                <a:latin typeface="a발레리나" panose="02020600000000000000" pitchFamily="18" charset="-127"/>
                <a:ea typeface="a발레리나" panose="02020600000000000000" pitchFamily="18" charset="-127"/>
              </a:rPr>
              <a:t>특징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87A4D7-3782-4C70-A25E-5EB3B2A8F0CA}"/>
              </a:ext>
            </a:extLst>
          </p:cNvPr>
          <p:cNvSpPr/>
          <p:nvPr/>
        </p:nvSpPr>
        <p:spPr>
          <a:xfrm>
            <a:off x="4502530" y="1146921"/>
            <a:ext cx="3752630" cy="15289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4313" indent="-214313">
              <a:lnSpc>
                <a:spcPct val="200000"/>
              </a:lnSpc>
              <a:buFontTx/>
              <a:buChar char="-"/>
            </a:pPr>
            <a:r>
              <a:rPr lang="ko-KR" altLang="en-US" sz="1350" dirty="0">
                <a:latin typeface="a발레리나" panose="02020600000000000000" pitchFamily="18" charset="-127"/>
                <a:ea typeface="a발레리나" panose="02020600000000000000" pitchFamily="18" charset="-127"/>
              </a:rPr>
              <a:t>휘발유</a:t>
            </a:r>
            <a:r>
              <a:rPr lang="en-US" altLang="ko-KR" sz="1350" dirty="0">
                <a:latin typeface="a발레리나" panose="02020600000000000000" pitchFamily="18" charset="-127"/>
                <a:ea typeface="a발레리나" panose="02020600000000000000" pitchFamily="18" charset="-127"/>
              </a:rPr>
              <a:t>/</a:t>
            </a:r>
            <a:r>
              <a:rPr lang="ko-KR" altLang="en-US" sz="1350" dirty="0">
                <a:latin typeface="a발레리나" panose="02020600000000000000" pitchFamily="18" charset="-127"/>
                <a:ea typeface="a발레리나" panose="02020600000000000000" pitchFamily="18" charset="-127"/>
              </a:rPr>
              <a:t>전기 하이브리드</a:t>
            </a:r>
            <a:endParaRPr lang="en-US" altLang="ko-KR" sz="1350" dirty="0">
              <a:latin typeface="a발레리나" panose="02020600000000000000" pitchFamily="18" charset="-127"/>
              <a:ea typeface="a발레리나" panose="02020600000000000000" pitchFamily="18" charset="-127"/>
            </a:endParaRPr>
          </a:p>
          <a:p>
            <a:pPr marL="214313" indent="-214313">
              <a:lnSpc>
                <a:spcPct val="200000"/>
              </a:lnSpc>
              <a:buFontTx/>
              <a:buChar char="-"/>
            </a:pPr>
            <a:r>
              <a:rPr lang="en-US" altLang="ko-KR" sz="1350" dirty="0">
                <a:latin typeface="a발레리나" panose="02020600000000000000" pitchFamily="18" charset="-127"/>
                <a:ea typeface="a발레리나" panose="02020600000000000000" pitchFamily="18" charset="-127"/>
              </a:rPr>
              <a:t>3</a:t>
            </a:r>
            <a:r>
              <a:rPr lang="ko-KR" altLang="en-US" sz="1350" dirty="0">
                <a:latin typeface="a발레리나" panose="02020600000000000000" pitchFamily="18" charset="-127"/>
                <a:ea typeface="a발레리나" panose="02020600000000000000" pitchFamily="18" charset="-127"/>
              </a:rPr>
              <a:t>시간 이상 비행</a:t>
            </a:r>
            <a:endParaRPr lang="en-US" altLang="ko-KR" sz="1350" dirty="0">
              <a:latin typeface="a발레리나" panose="02020600000000000000" pitchFamily="18" charset="-127"/>
              <a:ea typeface="a발레리나" panose="02020600000000000000" pitchFamily="18" charset="-127"/>
            </a:endParaRPr>
          </a:p>
          <a:p>
            <a:pPr marL="214313" indent="-214313">
              <a:lnSpc>
                <a:spcPct val="200000"/>
              </a:lnSpc>
              <a:buFontTx/>
              <a:buChar char="-"/>
            </a:pPr>
            <a:r>
              <a:rPr lang="ko-KR" altLang="en-US" sz="1350" dirty="0">
                <a:latin typeface="a발레리나" panose="02020600000000000000" pitchFamily="18" charset="-127"/>
                <a:ea typeface="a발레리나" panose="02020600000000000000" pitchFamily="18" charset="-127"/>
              </a:rPr>
              <a:t>최대 페이로드 </a:t>
            </a:r>
            <a:r>
              <a:rPr lang="en-US" altLang="ko-KR" sz="1350" dirty="0">
                <a:latin typeface="a발레리나" panose="02020600000000000000" pitchFamily="18" charset="-127"/>
                <a:ea typeface="a발레리나" panose="02020600000000000000" pitchFamily="18" charset="-127"/>
              </a:rPr>
              <a:t>7Kg</a:t>
            </a:r>
            <a:endParaRPr lang="ko-KR" altLang="en-US" sz="1350" dirty="0">
              <a:latin typeface="a발레리나" panose="02020600000000000000" pitchFamily="18" charset="-127"/>
              <a:ea typeface="a발레리나" panose="02020600000000000000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4CF60DF-00D5-4F2C-BE58-5D19DDF0A3E5}"/>
              </a:ext>
            </a:extLst>
          </p:cNvPr>
          <p:cNvSpPr/>
          <p:nvPr/>
        </p:nvSpPr>
        <p:spPr>
          <a:xfrm>
            <a:off x="800609" y="705213"/>
            <a:ext cx="3553214" cy="2035421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latin typeface="a발레리나" panose="02020600000000000000" pitchFamily="18" charset="-127"/>
              <a:ea typeface="a발레리나" panose="02020600000000000000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395344-C76E-434B-AE10-028AAD59B4FB}"/>
              </a:ext>
            </a:extLst>
          </p:cNvPr>
          <p:cNvSpPr/>
          <p:nvPr/>
        </p:nvSpPr>
        <p:spPr>
          <a:xfrm>
            <a:off x="4437797" y="705213"/>
            <a:ext cx="3889369" cy="2035421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latin typeface="a발레리나" panose="02020600000000000000" pitchFamily="18" charset="-127"/>
              <a:ea typeface="a발레리나" panose="02020600000000000000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9985E7A-81DE-4012-89AF-80728ABF3F21}"/>
              </a:ext>
            </a:extLst>
          </p:cNvPr>
          <p:cNvSpPr/>
          <p:nvPr/>
        </p:nvSpPr>
        <p:spPr>
          <a:xfrm>
            <a:off x="800608" y="2805437"/>
            <a:ext cx="7526559" cy="219976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121EC64-3248-497F-BF3B-C53CA13A305D}"/>
              </a:ext>
            </a:extLst>
          </p:cNvPr>
          <p:cNvSpPr/>
          <p:nvPr/>
        </p:nvSpPr>
        <p:spPr>
          <a:xfrm>
            <a:off x="856591" y="2852234"/>
            <a:ext cx="2407298" cy="3489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50" dirty="0">
                <a:latin typeface="a발레리나" panose="02020600000000000000" pitchFamily="18" charset="-127"/>
                <a:ea typeface="a발레리나" panose="02020600000000000000" pitchFamily="18" charset="-127"/>
              </a:rPr>
              <a:t>사양</a:t>
            </a:r>
          </a:p>
        </p:txBody>
      </p:sp>
      <p:graphicFrame>
        <p:nvGraphicFramePr>
          <p:cNvPr id="16" name="표 16">
            <a:extLst>
              <a:ext uri="{FF2B5EF4-FFF2-40B4-BE49-F238E27FC236}">
                <a16:creationId xmlns:a16="http://schemas.microsoft.com/office/drawing/2014/main" id="{DF3FF0B9-F982-4D65-A5A8-2F21C0C30C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399131"/>
              </p:ext>
            </p:extLst>
          </p:nvPr>
        </p:nvGraphicFramePr>
        <p:xfrm>
          <a:off x="863589" y="3267864"/>
          <a:ext cx="7391571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468">
                  <a:extLst>
                    <a:ext uri="{9D8B030D-6E8A-4147-A177-3AD203B41FA5}">
                      <a16:colId xmlns:a16="http://schemas.microsoft.com/office/drawing/2014/main" val="3508995977"/>
                    </a:ext>
                  </a:extLst>
                </a:gridCol>
                <a:gridCol w="5940103">
                  <a:extLst>
                    <a:ext uri="{9D8B030D-6E8A-4147-A177-3AD203B41FA5}">
                      <a16:colId xmlns:a16="http://schemas.microsoft.com/office/drawing/2014/main" val="2477059739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최대이륙중량</a:t>
                      </a:r>
                    </a:p>
                  </a:txBody>
                  <a:tcPr marL="68580" marR="68580" marT="34290" marB="3429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20.0Kg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a발레리나" panose="02020600000000000000" pitchFamily="18" charset="-127"/>
                        <a:ea typeface="a발레리나" panose="02020600000000000000" pitchFamily="18" charset="-127"/>
                      </a:endParaRPr>
                    </a:p>
                  </a:txBody>
                  <a:tcPr marL="68580" marR="68580" marT="34290" marB="3429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465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자체중량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13Kg</a:t>
                      </a:r>
                      <a:endParaRPr lang="ko-KR" altLang="en-US" sz="1200" dirty="0">
                        <a:latin typeface="a발레리나" panose="02020600000000000000" pitchFamily="18" charset="-127"/>
                        <a:ea typeface="a발레리나" panose="02020600000000000000" pitchFamily="18" charset="-127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4784852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페이로드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최대 </a:t>
                      </a:r>
                      <a:r>
                        <a:rPr lang="en-US" altLang="ko-KR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7Kg</a:t>
                      </a:r>
                      <a:endParaRPr lang="ko-KR" altLang="en-US" sz="1200" dirty="0">
                        <a:latin typeface="a발레리나" panose="02020600000000000000" pitchFamily="18" charset="-127"/>
                        <a:ea typeface="a발레리나" panose="02020600000000000000" pitchFamily="18" charset="-127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4307526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크기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1640x1640x620 mm (</a:t>
                      </a:r>
                      <a:r>
                        <a:rPr lang="en-US" altLang="ko-KR" sz="1200" dirty="0" err="1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LxWxH</a:t>
                      </a:r>
                      <a:r>
                        <a:rPr lang="en-US" altLang="ko-KR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), </a:t>
                      </a:r>
                      <a:r>
                        <a:rPr lang="ko-KR" altLang="en-US" sz="1200" dirty="0" err="1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휠베이스</a:t>
                      </a:r>
                      <a:r>
                        <a:rPr lang="ko-KR" altLang="en-US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 </a:t>
                      </a:r>
                      <a:r>
                        <a:rPr lang="en-US" altLang="ko-KR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1200mm</a:t>
                      </a:r>
                      <a:endParaRPr lang="ko-KR" altLang="en-US" sz="1200" dirty="0">
                        <a:latin typeface="a발레리나" panose="02020600000000000000" pitchFamily="18" charset="-127"/>
                        <a:ea typeface="a발레리나" panose="02020600000000000000" pitchFamily="18" charset="-127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6753247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작동환경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온도</a:t>
                      </a:r>
                      <a:r>
                        <a:rPr lang="en-US" altLang="ko-KR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(</a:t>
                      </a:r>
                      <a:r>
                        <a:rPr lang="ko-KR" altLang="en-US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섭씨 </a:t>
                      </a:r>
                      <a:r>
                        <a:rPr lang="en-US" altLang="ko-KR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0~35</a:t>
                      </a:r>
                      <a:r>
                        <a:rPr lang="ko-KR" altLang="en-US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도</a:t>
                      </a:r>
                      <a:r>
                        <a:rPr lang="en-US" altLang="ko-KR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), </a:t>
                      </a:r>
                      <a:r>
                        <a:rPr lang="ko-KR" altLang="en-US" sz="1200" dirty="0" err="1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내풍성</a:t>
                      </a:r>
                      <a:r>
                        <a:rPr lang="en-US" altLang="ko-KR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(14m/s), IP54, </a:t>
                      </a:r>
                      <a:r>
                        <a:rPr lang="ko-KR" altLang="en-US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극한 환경버전 제작가능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56523499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임무장비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카메라</a:t>
                      </a:r>
                      <a:r>
                        <a:rPr lang="en-US" altLang="ko-KR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, EO/IR, </a:t>
                      </a:r>
                      <a:r>
                        <a:rPr lang="ko-KR" altLang="en-US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살포장치</a:t>
                      </a:r>
                      <a:r>
                        <a:rPr lang="en-US" altLang="ko-KR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, </a:t>
                      </a:r>
                      <a:r>
                        <a:rPr lang="ko-KR" altLang="en-US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보조연료통</a:t>
                      </a:r>
                      <a:r>
                        <a:rPr lang="en-US" altLang="ko-KR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, </a:t>
                      </a:r>
                      <a:r>
                        <a:rPr lang="ko-KR" altLang="en-US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해상운용 </a:t>
                      </a:r>
                      <a:r>
                        <a:rPr lang="ko-KR" altLang="en-US" sz="1200" dirty="0" err="1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부력통</a:t>
                      </a:r>
                      <a:r>
                        <a:rPr lang="ko-KR" altLang="en-US" sz="1200" dirty="0">
                          <a:latin typeface="a발레리나" panose="02020600000000000000" pitchFamily="18" charset="-127"/>
                          <a:ea typeface="a발레리나" panose="02020600000000000000" pitchFamily="18" charset="-127"/>
                        </a:rPr>
                        <a:t> 등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68490643"/>
                  </a:ext>
                </a:extLst>
              </a:tr>
            </a:tbl>
          </a:graphicData>
        </a:graphic>
      </p:graphicFrame>
      <p:pic>
        <p:nvPicPr>
          <p:cNvPr id="4" name="그림 3" descr="하늘, 운송, 실외, 헬리콥터이(가) 표시된 사진&#10;&#10;자동 생성된 설명">
            <a:extLst>
              <a:ext uri="{FF2B5EF4-FFF2-40B4-BE49-F238E27FC236}">
                <a16:creationId xmlns:a16="http://schemas.microsoft.com/office/drawing/2014/main" id="{ADF57FFB-5E5E-45BA-B848-E4D6C1F90B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88" y="766893"/>
            <a:ext cx="3429002" cy="193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141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_x483507680" descr="EMB000060bc4341">
            <a:extLst>
              <a:ext uri="{FF2B5EF4-FFF2-40B4-BE49-F238E27FC236}">
                <a16:creationId xmlns:a16="http://schemas.microsoft.com/office/drawing/2014/main" id="{E9D8518A-F2FE-49AD-95E7-7FFE603CA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060" y="826491"/>
            <a:ext cx="3659188" cy="318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6712257-8A53-4F73-B7FB-BB6ED7094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000" dirty="0"/>
              <a:t>하이브리드 추진 </a:t>
            </a:r>
            <a:r>
              <a:rPr lang="ko-KR" altLang="en-US" sz="3000" dirty="0" err="1"/>
              <a:t>멀티콥터</a:t>
            </a:r>
            <a:r>
              <a:rPr lang="en-US" altLang="ko-KR" sz="3000" dirty="0"/>
              <a:t>(2018)</a:t>
            </a:r>
            <a:endParaRPr lang="ko-KR" altLang="en-US" sz="3000" dirty="0"/>
          </a:p>
        </p:txBody>
      </p:sp>
      <p:pic>
        <p:nvPicPr>
          <p:cNvPr id="1025" name="_x401252976" descr="EMB000060bc4325">
            <a:extLst>
              <a:ext uri="{FF2B5EF4-FFF2-40B4-BE49-F238E27FC236}">
                <a16:creationId xmlns:a16="http://schemas.microsoft.com/office/drawing/2014/main" id="{DE546EFB-922B-4F47-9B85-E2EFD8316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80946"/>
            <a:ext cx="4191784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FF9140-75C7-43DA-BF66-645B83285593}"/>
              </a:ext>
            </a:extLst>
          </p:cNvPr>
          <p:cNvSpPr txBox="1"/>
          <p:nvPr/>
        </p:nvSpPr>
        <p:spPr>
          <a:xfrm>
            <a:off x="143508" y="4014191"/>
            <a:ext cx="5949064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정부과제 수주 실적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재난치안용 </a:t>
            </a:r>
            <a:r>
              <a:rPr lang="ko-KR" altLang="en-US" dirty="0" err="1"/>
              <a:t>멀티콥터</a:t>
            </a:r>
            <a:r>
              <a:rPr lang="ko-KR" altLang="en-US" dirty="0"/>
              <a:t> 플랫폼 개발</a:t>
            </a:r>
            <a:r>
              <a:rPr lang="en-US" altLang="ko-KR" dirty="0"/>
              <a:t>(6.6</a:t>
            </a:r>
            <a:r>
              <a:rPr lang="ko-KR" altLang="en-US" dirty="0"/>
              <a:t>억</a:t>
            </a:r>
            <a:r>
              <a:rPr lang="en-US" altLang="ko-KR" dirty="0"/>
              <a:t>),</a:t>
            </a:r>
            <a:r>
              <a:rPr lang="ko-KR" altLang="en-US" dirty="0"/>
              <a:t> 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900" dirty="0"/>
              <a:t>과학기술정보통신부</a:t>
            </a:r>
            <a:r>
              <a:rPr lang="en-US" altLang="ko-KR" sz="900" dirty="0"/>
              <a:t>, </a:t>
            </a:r>
            <a:r>
              <a:rPr lang="ko-KR" altLang="en-US" sz="900" dirty="0"/>
              <a:t>산업통산자원부</a:t>
            </a:r>
            <a:r>
              <a:rPr lang="en-US" altLang="ko-KR" sz="900" dirty="0"/>
              <a:t>, </a:t>
            </a:r>
            <a:r>
              <a:rPr lang="ko-KR" altLang="en-US" sz="900" dirty="0"/>
              <a:t>행정 안전부의 경찰청과 </a:t>
            </a:r>
            <a:r>
              <a:rPr lang="ko-KR" altLang="en-US" sz="900" dirty="0" err="1"/>
              <a:t>소방청</a:t>
            </a:r>
            <a:r>
              <a:rPr lang="en-US" altLang="ko-KR" sz="900" dirty="0"/>
              <a:t>, </a:t>
            </a:r>
            <a:r>
              <a:rPr lang="ko-KR" altLang="en-US" sz="900" dirty="0"/>
              <a:t>해양수산부의 해양 경찰청</a:t>
            </a:r>
            <a:endParaRPr lang="en-US" altLang="ko-KR" sz="9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함정 및 해상용 </a:t>
            </a:r>
            <a:r>
              <a:rPr lang="ko-KR" altLang="en-US" dirty="0" err="1"/>
              <a:t>멀티콥터</a:t>
            </a:r>
            <a:r>
              <a:rPr lang="ko-KR" altLang="en-US" dirty="0"/>
              <a:t> 개발</a:t>
            </a:r>
            <a:r>
              <a:rPr lang="en-US" altLang="ko-KR" dirty="0"/>
              <a:t>(27</a:t>
            </a:r>
            <a:r>
              <a:rPr lang="ko-KR" altLang="en-US" dirty="0"/>
              <a:t>억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1005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52D9C6E-EA7C-4029-A4DB-282706E3C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055" y="471304"/>
            <a:ext cx="6727281" cy="467219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2B47834-0FF6-443D-B826-F6FA1A3B0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65571"/>
          </a:xfrm>
        </p:spPr>
        <p:txBody>
          <a:bodyPr>
            <a:normAutofit/>
          </a:bodyPr>
          <a:lstStyle/>
          <a:p>
            <a:r>
              <a:rPr lang="ko-KR" altLang="en-US" sz="3000" dirty="0"/>
              <a:t>농업용 </a:t>
            </a:r>
            <a:r>
              <a:rPr lang="ko-KR" altLang="en-US" sz="3000" dirty="0" err="1"/>
              <a:t>멀티콥터</a:t>
            </a:r>
            <a:r>
              <a:rPr lang="en-US" altLang="ko-KR" sz="3000" dirty="0"/>
              <a:t>(2017)</a:t>
            </a:r>
            <a:endParaRPr lang="ko-KR" altLang="en-US" sz="3000" dirty="0"/>
          </a:p>
        </p:txBody>
      </p:sp>
    </p:spTree>
    <p:extLst>
      <p:ext uri="{BB962C8B-B14F-4D97-AF65-F5344CB8AC3E}">
        <p14:creationId xmlns:p14="http://schemas.microsoft.com/office/powerpoint/2010/main" val="1360257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544" y="123478"/>
            <a:ext cx="8229600" cy="857250"/>
          </a:xfrm>
        </p:spPr>
        <p:txBody>
          <a:bodyPr>
            <a:normAutofit/>
          </a:bodyPr>
          <a:lstStyle/>
          <a:p>
            <a:r>
              <a:rPr lang="ko-KR" altLang="en-US" sz="3000" dirty="0"/>
              <a:t>농업 방제용 멀티콥터</a:t>
            </a:r>
            <a:r>
              <a:rPr lang="en-US" altLang="ko-KR" sz="3000" dirty="0"/>
              <a:t>(2016)</a:t>
            </a:r>
            <a:endParaRPr lang="ko-KR" altLang="en-US" sz="3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8" y="1119092"/>
            <a:ext cx="3456384" cy="3521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4188" y="1285870"/>
            <a:ext cx="2470150" cy="293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736170" y="4040123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Y나무L" panose="02030600000101010101" pitchFamily="18" charset="-127"/>
                <a:ea typeface="HY나무L" panose="02030600000101010101" pitchFamily="18" charset="-127"/>
              </a:rPr>
              <a:t>KAD1200</a:t>
            </a:r>
            <a:endParaRPr lang="ko-KR" altLang="en-US" dirty="0">
              <a:latin typeface="HY나무L" panose="02030600000101010101" pitchFamily="18" charset="-127"/>
              <a:ea typeface="HY나무L" panose="0203060000010101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83868" y="2289467"/>
            <a:ext cx="26548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안전가드 장착</a:t>
            </a:r>
            <a:endParaRPr lang="en-US" altLang="ko-KR" dirty="0"/>
          </a:p>
          <a:p>
            <a:pPr algn="ctr"/>
            <a:r>
              <a:rPr lang="ko-KR" altLang="en-US" dirty="0"/>
              <a:t>방수 구조</a:t>
            </a:r>
            <a:endParaRPr lang="en-US" altLang="ko-KR" dirty="0"/>
          </a:p>
          <a:p>
            <a:pPr algn="ctr"/>
            <a:r>
              <a:rPr lang="en-US" altLang="ko-KR" dirty="0"/>
              <a:t>10</a:t>
            </a:r>
            <a:r>
              <a:rPr lang="ko-KR" altLang="en-US" dirty="0"/>
              <a:t>분에 약 </a:t>
            </a:r>
            <a:r>
              <a:rPr lang="en-US" altLang="ko-KR" dirty="0"/>
              <a:t>3800</a:t>
            </a:r>
            <a:r>
              <a:rPr lang="ko-KR" altLang="en-US" dirty="0"/>
              <a:t>평 살포</a:t>
            </a:r>
          </a:p>
        </p:txBody>
      </p:sp>
    </p:spTree>
    <p:extLst>
      <p:ext uri="{BB962C8B-B14F-4D97-AF65-F5344CB8AC3E}">
        <p14:creationId xmlns:p14="http://schemas.microsoft.com/office/powerpoint/2010/main" val="2582244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9892" y="1167594"/>
            <a:ext cx="5454352" cy="3204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502315" y="222198"/>
            <a:ext cx="2113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개념에서 생산까지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23528" y="771550"/>
            <a:ext cx="423532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개념 및 기초설계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개념 검증용 </a:t>
            </a:r>
            <a:r>
              <a:rPr lang="ko-KR" altLang="en-US" dirty="0" err="1"/>
              <a:t>프로토타입</a:t>
            </a:r>
            <a:r>
              <a:rPr lang="ko-KR" altLang="en-US" dirty="0"/>
              <a:t> 설계</a:t>
            </a:r>
            <a:r>
              <a:rPr lang="en-US" altLang="ko-KR" dirty="0"/>
              <a:t>, </a:t>
            </a:r>
            <a:r>
              <a:rPr lang="ko-KR" altLang="en-US" dirty="0"/>
              <a:t>제작</a:t>
            </a:r>
            <a:r>
              <a:rPr lang="en-US" altLang="ko-KR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상세설계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공학해석</a:t>
            </a:r>
            <a:r>
              <a:rPr lang="en-US" altLang="ko-KR" dirty="0"/>
              <a:t>(</a:t>
            </a:r>
            <a:r>
              <a:rPr lang="ko-KR" altLang="en-US" dirty="0"/>
              <a:t>비행역학</a:t>
            </a:r>
            <a:r>
              <a:rPr lang="en-US" altLang="ko-KR" dirty="0"/>
              <a:t>, </a:t>
            </a:r>
            <a:r>
              <a:rPr lang="ko-KR" altLang="en-US" dirty="0"/>
              <a:t>제어</a:t>
            </a:r>
            <a:r>
              <a:rPr lang="en-US" altLang="ko-KR" dirty="0"/>
              <a:t>, </a:t>
            </a:r>
            <a:r>
              <a:rPr lang="ko-KR" altLang="en-US" dirty="0"/>
              <a:t>구조 등</a:t>
            </a:r>
            <a:r>
              <a:rPr lang="en-US" altLang="ko-KR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양산 </a:t>
            </a:r>
            <a:r>
              <a:rPr lang="ko-KR" altLang="en-US" dirty="0" err="1"/>
              <a:t>프로토타입</a:t>
            </a:r>
            <a:r>
              <a:rPr lang="ko-KR" altLang="en-US" dirty="0"/>
              <a:t> 설계</a:t>
            </a:r>
            <a:r>
              <a:rPr lang="en-US" altLang="ko-KR" dirty="0"/>
              <a:t>, </a:t>
            </a:r>
            <a:r>
              <a:rPr lang="ko-KR" altLang="en-US" dirty="0"/>
              <a:t>제작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비행시험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인증업무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양산 </a:t>
            </a:r>
            <a:r>
              <a:rPr lang="ko-KR" altLang="en-US" dirty="0" err="1"/>
              <a:t>툴링</a:t>
            </a:r>
            <a:r>
              <a:rPr lang="ko-KR" altLang="en-US" dirty="0"/>
              <a:t> 설계</a:t>
            </a:r>
            <a:r>
              <a:rPr lang="en-US" altLang="ko-KR" dirty="0"/>
              <a:t>, </a:t>
            </a:r>
            <a:r>
              <a:rPr lang="ko-KR" altLang="en-US" dirty="0"/>
              <a:t>제작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27572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000" dirty="0"/>
              <a:t>가변피치</a:t>
            </a:r>
            <a:r>
              <a:rPr lang="en-US" altLang="ko-KR" sz="3000" dirty="0"/>
              <a:t>, </a:t>
            </a:r>
            <a:r>
              <a:rPr lang="ko-KR" altLang="en-US" sz="3000" dirty="0"/>
              <a:t>단일 엔진구동 멀티콥터</a:t>
            </a:r>
            <a:r>
              <a:rPr lang="en-US" altLang="ko-KR" sz="3000" dirty="0"/>
              <a:t>(2015)</a:t>
            </a:r>
            <a:endParaRPr lang="ko-KR" altLang="en-US" sz="30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-1321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-1321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5" name="_x227251776" descr="EMB000006f009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540" y="1563638"/>
            <a:ext cx="4824535" cy="2689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616115" y="2391730"/>
            <a:ext cx="31422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엔진 구동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충전시간 </a:t>
            </a:r>
            <a:r>
              <a:rPr lang="en-US" altLang="ko-KR" dirty="0">
                <a:sym typeface="Wingdings" panose="05000000000000000000" pitchFamily="2" charset="2"/>
              </a:rPr>
              <a:t>X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가변피치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오토로테이션 </a:t>
            </a:r>
            <a:r>
              <a:rPr lang="en-US" altLang="ko-KR" dirty="0">
                <a:sym typeface="Wingdings" panose="05000000000000000000" pitchFamily="2" charset="2"/>
              </a:rPr>
              <a:t>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6739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-1321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-1321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099" name="_x227243776" descr="DRW000006f0094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182" y="1095586"/>
            <a:ext cx="3674215" cy="255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_x227249536" descr="EMB000006f0092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352" y="2463738"/>
            <a:ext cx="4779719" cy="2171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rmAutofit/>
          </a:bodyPr>
          <a:lstStyle/>
          <a:p>
            <a:r>
              <a:rPr lang="ko-KR" altLang="en-US" sz="3000" dirty="0"/>
              <a:t>가변피치</a:t>
            </a:r>
            <a:r>
              <a:rPr lang="en-US" altLang="ko-KR" sz="3000" dirty="0"/>
              <a:t>, </a:t>
            </a:r>
            <a:r>
              <a:rPr lang="ko-KR" altLang="en-US" sz="3000" dirty="0"/>
              <a:t>단일 엔진구동 멀티콥터</a:t>
            </a:r>
            <a:r>
              <a:rPr lang="en-US" altLang="ko-KR" sz="3000" dirty="0"/>
              <a:t>(</a:t>
            </a:r>
            <a:r>
              <a:rPr lang="ko-KR" altLang="en-US" sz="3000" dirty="0"/>
              <a:t>계속</a:t>
            </a:r>
            <a:r>
              <a:rPr lang="en-US" altLang="ko-KR" sz="3000" dirty="0"/>
              <a:t>)</a:t>
            </a:r>
            <a:endParaRPr lang="ko-KR" altLang="en-US" sz="3000" dirty="0"/>
          </a:p>
        </p:txBody>
      </p:sp>
    </p:spTree>
    <p:extLst>
      <p:ext uri="{BB962C8B-B14F-4D97-AF65-F5344CB8AC3E}">
        <p14:creationId xmlns:p14="http://schemas.microsoft.com/office/powerpoint/2010/main" val="689123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0">
              <a:srgbClr val="E6E6E6"/>
            </a:gs>
            <a:gs pos="0">
              <a:srgbClr val="7D8496"/>
            </a:gs>
            <a:gs pos="100000">
              <a:srgbClr val="E6E6E6"/>
            </a:gs>
            <a:gs pos="93000">
              <a:schemeClr val="bg1">
                <a:lumMod val="75000"/>
              </a:schemeClr>
            </a:gs>
            <a:gs pos="100000">
              <a:srgbClr val="E6E6E6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000" dirty="0">
                <a:solidFill>
                  <a:schemeClr val="bg1"/>
                </a:solidFill>
              </a:rPr>
              <a:t>전지형 이동수단</a:t>
            </a:r>
            <a:r>
              <a:rPr lang="en-US" altLang="ko-KR" sz="3000" dirty="0">
                <a:solidFill>
                  <a:schemeClr val="bg1"/>
                </a:solidFill>
              </a:rPr>
              <a:t>(2014)</a:t>
            </a:r>
            <a:endParaRPr lang="ko-KR" altLang="en-US" sz="3000" dirty="0">
              <a:solidFill>
                <a:schemeClr val="bg1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모서리가 둥근 직사각형 6"/>
          <p:cNvSpPr/>
          <p:nvPr/>
        </p:nvSpPr>
        <p:spPr>
          <a:xfrm>
            <a:off x="5004048" y="2525730"/>
            <a:ext cx="1440160" cy="12241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전동 </a:t>
            </a:r>
            <a:endParaRPr lang="en-US" altLang="ko-KR" dirty="0"/>
          </a:p>
          <a:p>
            <a:pPr algn="ctr"/>
            <a:r>
              <a:rPr lang="ko-KR" altLang="en-US" dirty="0"/>
              <a:t>무한궤도 </a:t>
            </a:r>
            <a:r>
              <a:rPr lang="en-US" altLang="ko-KR" dirty="0"/>
              <a:t>Platform</a:t>
            </a:r>
            <a:endParaRPr lang="ko-KR" altLang="en-US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7308304" y="2525730"/>
            <a:ext cx="1440160" cy="12241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Stewart</a:t>
            </a:r>
          </a:p>
          <a:p>
            <a:pPr algn="ctr"/>
            <a:r>
              <a:rPr lang="en-US" altLang="ko-KR" dirty="0"/>
              <a:t>Platform</a:t>
            </a:r>
            <a:endParaRPr lang="ko-KR" altLang="en-US" dirty="0"/>
          </a:p>
        </p:txBody>
      </p:sp>
      <p:sp>
        <p:nvSpPr>
          <p:cNvPr id="8" name="덧셈 기호 7"/>
          <p:cNvSpPr/>
          <p:nvPr/>
        </p:nvSpPr>
        <p:spPr>
          <a:xfrm>
            <a:off x="6627201" y="2849766"/>
            <a:ext cx="540060" cy="576064"/>
          </a:xfrm>
          <a:prstGeom prst="mathPlus">
            <a:avLst>
              <a:gd name="adj1" fmla="val 3480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 설명선 9"/>
          <p:cNvSpPr/>
          <p:nvPr/>
        </p:nvSpPr>
        <p:spPr>
          <a:xfrm>
            <a:off x="5004048" y="1239602"/>
            <a:ext cx="3996444" cy="1044116"/>
          </a:xfrm>
          <a:prstGeom prst="wedgeRectCallout">
            <a:avLst>
              <a:gd name="adj1" fmla="val -33036"/>
              <a:gd name="adj2" fmla="val 84394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/>
                </a:solidFill>
              </a:rPr>
              <a:t>전지형</a:t>
            </a:r>
            <a:r>
              <a:rPr lang="en-US" altLang="ko-KR" dirty="0">
                <a:solidFill>
                  <a:schemeClr val="bg1"/>
                </a:solidFill>
              </a:rPr>
              <a:t>(All-terrain)</a:t>
            </a:r>
            <a:r>
              <a:rPr lang="ko-KR" altLang="en-US" dirty="0">
                <a:solidFill>
                  <a:schemeClr val="bg1"/>
                </a:solidFill>
              </a:rPr>
              <a:t> 이동수단 검토</a:t>
            </a:r>
            <a:endParaRPr lang="en-US" altLang="ko-KR" dirty="0">
              <a:solidFill>
                <a:schemeClr val="bg1"/>
              </a:solidFill>
            </a:endParaRPr>
          </a:p>
          <a:p>
            <a:pPr lvl="1"/>
            <a:r>
              <a:rPr lang="ko-KR" altLang="en-US" sz="1600" dirty="0">
                <a:solidFill>
                  <a:schemeClr val="bg1"/>
                </a:solidFill>
              </a:rPr>
              <a:t>교통약자를 위한 기반시설 미비</a:t>
            </a:r>
            <a:endParaRPr lang="en-US" altLang="ko-KR" sz="1600" dirty="0"/>
          </a:p>
        </p:txBody>
      </p:sp>
      <p:sp>
        <p:nvSpPr>
          <p:cNvPr id="12" name="사각형 설명선 11"/>
          <p:cNvSpPr/>
          <p:nvPr/>
        </p:nvSpPr>
        <p:spPr>
          <a:xfrm>
            <a:off x="5004008" y="3903898"/>
            <a:ext cx="3996444" cy="1044116"/>
          </a:xfrm>
          <a:prstGeom prst="wedgeRectCallout">
            <a:avLst>
              <a:gd name="adj1" fmla="val 33317"/>
              <a:gd name="adj2" fmla="val -81272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낙상방지를 위한 자동 수평유지</a:t>
            </a:r>
            <a:endParaRPr lang="en-US" altLang="ko-KR" dirty="0"/>
          </a:p>
          <a:p>
            <a:pPr lvl="1"/>
            <a:r>
              <a:rPr lang="ko-KR" altLang="en-US" sz="1600" dirty="0"/>
              <a:t>휠체어 사고의 대부분이 낙상사고</a:t>
            </a:r>
            <a:endParaRPr lang="en-US" altLang="ko-KR" sz="16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520842"/>
            <a:ext cx="2448272" cy="2807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톱니 모양의 오른쪽 화살표 10"/>
          <p:cNvSpPr/>
          <p:nvPr/>
        </p:nvSpPr>
        <p:spPr>
          <a:xfrm rot="10800000">
            <a:off x="3887924" y="2889188"/>
            <a:ext cx="576064" cy="54006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A9B5B6-26D0-4129-AC00-1685127ECACC}"/>
              </a:ext>
            </a:extLst>
          </p:cNvPr>
          <p:cNvSpPr txBox="1"/>
          <p:nvPr/>
        </p:nvSpPr>
        <p:spPr>
          <a:xfrm>
            <a:off x="71500" y="4363239"/>
            <a:ext cx="5022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정부과제 수주 실적 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교통약자를 위한 전지형 이동수단 개발 </a:t>
            </a:r>
            <a:r>
              <a:rPr lang="en-US" altLang="ko-KR" sz="1600" dirty="0"/>
              <a:t>(2</a:t>
            </a:r>
            <a:r>
              <a:rPr lang="ko-KR" altLang="en-US" sz="1600" dirty="0"/>
              <a:t>억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736502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0">
              <a:srgbClr val="E6E6E6"/>
            </a:gs>
            <a:gs pos="0">
              <a:srgbClr val="7D8496"/>
            </a:gs>
            <a:gs pos="100000">
              <a:srgbClr val="E6E6E6"/>
            </a:gs>
            <a:gs pos="16000">
              <a:schemeClr val="tx1">
                <a:lumMod val="87000"/>
                <a:lumOff val="13000"/>
              </a:schemeClr>
            </a:gs>
            <a:gs pos="100000">
              <a:srgbClr val="E6E6E6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000" dirty="0">
                <a:solidFill>
                  <a:schemeClr val="bg1"/>
                </a:solidFill>
              </a:rPr>
              <a:t>휠체어 보조장치</a:t>
            </a:r>
            <a:r>
              <a:rPr lang="en-US" altLang="ko-KR" sz="3000" dirty="0">
                <a:solidFill>
                  <a:schemeClr val="bg1"/>
                </a:solidFill>
              </a:rPr>
              <a:t>(2013)</a:t>
            </a:r>
            <a:endParaRPr lang="ko-KR" altLang="en-US" sz="3000" dirty="0">
              <a:solidFill>
                <a:schemeClr val="bg1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248356872" descr="EMB000028d402d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540" y="1023578"/>
            <a:ext cx="4804929" cy="3807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383868" y="991752"/>
            <a:ext cx="549862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교통약자를 위한 일반 휠체어의 전동 휠체어화</a:t>
            </a:r>
            <a:endParaRPr lang="en-US" altLang="ko-KR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기존 휠체어의 개조 없이 볼트</a:t>
            </a:r>
            <a:r>
              <a:rPr lang="en-US" altLang="ko-KR" dirty="0">
                <a:solidFill>
                  <a:schemeClr val="bg1"/>
                </a:solidFill>
              </a:rPr>
              <a:t>-</a:t>
            </a:r>
            <a:r>
              <a:rPr lang="ko-KR" altLang="en-US" dirty="0">
                <a:solidFill>
                  <a:schemeClr val="bg1"/>
                </a:solidFill>
              </a:rPr>
              <a:t>온 장착</a:t>
            </a:r>
            <a:endParaRPr lang="en-US" altLang="ko-KR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기존 휠체어의 폴딩 기능 유지</a:t>
            </a:r>
            <a:endParaRPr lang="en-US" altLang="ko-K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계단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에스컬레이터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경사로에서도 운용 가능</a:t>
            </a:r>
            <a:endParaRPr lang="en-US" altLang="ko-KR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자동 수평 유지 기능으로 사용자의 추락방지</a:t>
            </a:r>
            <a:endParaRPr lang="en-US" altLang="ko-K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2</a:t>
            </a:r>
            <a:r>
              <a:rPr lang="ko-KR" altLang="en-US" dirty="0">
                <a:solidFill>
                  <a:schemeClr val="bg1"/>
                </a:solidFill>
              </a:rPr>
              <a:t>건의 특허 등록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7" name="_x248357832" descr="EMB000028d402d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164" y="3788957"/>
            <a:ext cx="1285448" cy="1033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9" name="_x248359512" descr="EMB000028d402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164" y="2753537"/>
            <a:ext cx="1285448" cy="103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31" name="_x248359112" descr="EMB000028d402d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308" y="2751770"/>
            <a:ext cx="1759211" cy="2071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33" name="_x248358472" descr="EMB000028d402e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6495" y="3032671"/>
            <a:ext cx="2242345" cy="179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9D27BBE-E15D-4A0C-BC6B-BFB6F4ED854D}"/>
              </a:ext>
            </a:extLst>
          </p:cNvPr>
          <p:cNvSpPr txBox="1"/>
          <p:nvPr/>
        </p:nvSpPr>
        <p:spPr>
          <a:xfrm>
            <a:off x="71500" y="4363239"/>
            <a:ext cx="5022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정부과제 수주 실적 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교통약자를 위한 휠체어 보조장치 개발 </a:t>
            </a:r>
            <a:r>
              <a:rPr lang="en-US" altLang="ko-KR" sz="1600" dirty="0"/>
              <a:t>(2</a:t>
            </a:r>
            <a:r>
              <a:rPr lang="ko-KR" altLang="en-US" sz="1600" dirty="0"/>
              <a:t>억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158457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 lang="ko-KR" altLang="en-US"/>
            </a:pPr>
            <a:r>
              <a:rPr lang="ko-KR" altLang="en-US" sz="3000"/>
              <a:t>위성추적장치</a:t>
            </a:r>
            <a:r>
              <a:rPr lang="en-US" altLang="ko-KR" sz="3000"/>
              <a:t>(2012)</a:t>
            </a:r>
            <a:endParaRPr lang="ko-KR" altLang="en-US" sz="3000"/>
          </a:p>
        </p:txBody>
      </p:sp>
      <p:pic>
        <p:nvPicPr>
          <p:cNvPr id="5" name="_x158220456" descr="DRW00001e300e34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24218" y="1173568"/>
            <a:ext cx="6575362" cy="2982357"/>
          </a:xfrm>
          <a:prstGeom prst="rect">
            <a:avLst/>
          </a:prstGeom>
          <a:noFill/>
        </p:spPr>
      </p:pic>
      <p:pic>
        <p:nvPicPr>
          <p:cNvPr id="6" name="그림 4" descr="marine-satcom-antenna-vsat-ku-band-for-ships-32262-281983.jp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837724" y="2211710"/>
            <a:ext cx="1972630" cy="27914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160BF8-D7D4-4378-AED7-0641B9A3DCD5}"/>
              </a:ext>
            </a:extLst>
          </p:cNvPr>
          <p:cNvSpPr txBox="1"/>
          <p:nvPr/>
        </p:nvSpPr>
        <p:spPr>
          <a:xfrm>
            <a:off x="561064" y="4256381"/>
            <a:ext cx="33393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차기 </a:t>
            </a:r>
            <a:r>
              <a:rPr lang="ko-KR" altLang="en-US" dirty="0" err="1"/>
              <a:t>군위성</a:t>
            </a:r>
            <a:r>
              <a:rPr lang="ko-KR" altLang="en-US" dirty="0"/>
              <a:t> 사업 납품 실적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약 </a:t>
            </a:r>
            <a:r>
              <a:rPr lang="en-US" altLang="ko-KR" dirty="0"/>
              <a:t>200</a:t>
            </a:r>
            <a:r>
              <a:rPr lang="ko-KR" altLang="en-US" dirty="0"/>
              <a:t>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000" dirty="0">
                <a:solidFill>
                  <a:schemeClr val="bg1"/>
                </a:solidFill>
              </a:rPr>
              <a:t>경주차용 </a:t>
            </a:r>
            <a:r>
              <a:rPr lang="en-US" altLang="ko-KR" sz="3000" dirty="0">
                <a:solidFill>
                  <a:schemeClr val="bg1"/>
                </a:solidFill>
              </a:rPr>
              <a:t>Data Logger(2009)</a:t>
            </a:r>
            <a:endParaRPr lang="ko-KR" altLang="en-US" sz="3000" dirty="0">
              <a:solidFill>
                <a:schemeClr val="bg1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85" y="1113588"/>
            <a:ext cx="8677275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7007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-1321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7169" name="_x505953944" descr="EMB000006f0098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1" y="1491630"/>
            <a:ext cx="4968552" cy="2808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688124" y="1167594"/>
            <a:ext cx="2553263" cy="29472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Lap Time</a:t>
            </a:r>
            <a:r>
              <a:rPr lang="ko-KR" altLang="en-US" dirty="0">
                <a:solidFill>
                  <a:schemeClr val="bg1"/>
                </a:solidFill>
              </a:rPr>
              <a:t> 측정</a:t>
            </a:r>
            <a:endParaRPr lang="en-US" altLang="ko-KR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주행 </a:t>
            </a:r>
            <a:r>
              <a:rPr lang="en-US" altLang="ko-KR" dirty="0">
                <a:solidFill>
                  <a:schemeClr val="bg1"/>
                </a:solidFill>
              </a:rPr>
              <a:t>Data Logging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다기능 디스플레이</a:t>
            </a:r>
            <a:endParaRPr lang="en-US" altLang="ko-KR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F1 Style Shift Indicator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Drag Mode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Drift Mode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Log Viewer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C58D6DA-9877-4EEC-9797-6390D3482880}"/>
              </a:ext>
            </a:extLst>
          </p:cNvPr>
          <p:cNvSpPr/>
          <p:nvPr/>
        </p:nvSpPr>
        <p:spPr>
          <a:xfrm>
            <a:off x="3149842" y="4443958"/>
            <a:ext cx="284431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http://brosmall.com/product/list.html?cate_no=92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251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000" dirty="0"/>
              <a:t>실내 위치 추적 시스템</a:t>
            </a:r>
            <a:r>
              <a:rPr lang="en-US" altLang="ko-KR" sz="3000" dirty="0"/>
              <a:t>(2009)</a:t>
            </a:r>
            <a:endParaRPr lang="ko-KR" altLang="en-US" sz="3000" dirty="0"/>
          </a:p>
        </p:txBody>
      </p:sp>
      <p:pic>
        <p:nvPicPr>
          <p:cNvPr id="2050" name="_x48843408" descr="EMB000028f404e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84" y="1580424"/>
            <a:ext cx="3408182" cy="1982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54" name="_x152445592" descr="EMB000028f404f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987574"/>
            <a:ext cx="2351088" cy="275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모서리가 둥근 직사각형 6"/>
          <p:cNvSpPr/>
          <p:nvPr/>
        </p:nvSpPr>
        <p:spPr>
          <a:xfrm>
            <a:off x="999675" y="3563076"/>
            <a:ext cx="7704856" cy="648072"/>
          </a:xfrm>
          <a:prstGeom prst="round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GPS </a:t>
            </a:r>
            <a:r>
              <a:rPr lang="ko-KR" altLang="en-US" dirty="0">
                <a:solidFill>
                  <a:schemeClr val="tx1"/>
                </a:solidFill>
              </a:rPr>
              <a:t>신호가 없는 실내에서도 운용이 가능한 위치 추적 시스템</a:t>
            </a:r>
            <a:r>
              <a:rPr lang="en-US" altLang="ko-KR" dirty="0">
                <a:solidFill>
                  <a:schemeClr val="tx1"/>
                </a:solidFill>
              </a:rPr>
              <a:t>(3D </a:t>
            </a:r>
            <a:r>
              <a:rPr lang="ko-KR" altLang="en-US" dirty="0">
                <a:solidFill>
                  <a:schemeClr val="tx1"/>
                </a:solidFill>
              </a:rPr>
              <a:t>위치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3366" y="1801937"/>
            <a:ext cx="265747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51EE7E-DA0F-4928-9DCB-E4B6896E62B5}"/>
              </a:ext>
            </a:extLst>
          </p:cNvPr>
          <p:cNvSpPr txBox="1"/>
          <p:nvPr/>
        </p:nvSpPr>
        <p:spPr>
          <a:xfrm>
            <a:off x="3275856" y="4301784"/>
            <a:ext cx="24833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정부과제 수주 실적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1.8</a:t>
            </a:r>
            <a:r>
              <a:rPr lang="ko-KR" altLang="en-US" dirty="0"/>
              <a:t>억</a:t>
            </a:r>
          </a:p>
        </p:txBody>
      </p:sp>
    </p:spTree>
    <p:extLst>
      <p:ext uri="{BB962C8B-B14F-4D97-AF65-F5344CB8AC3E}">
        <p14:creationId xmlns:p14="http://schemas.microsoft.com/office/powerpoint/2010/main" val="2096060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000" dirty="0"/>
              <a:t>헬리콥터 오토파일럿</a:t>
            </a:r>
            <a:r>
              <a:rPr lang="en-US" altLang="ko-KR" sz="3000" dirty="0"/>
              <a:t>(2008)</a:t>
            </a:r>
            <a:endParaRPr lang="ko-KR" altLang="en-US" sz="30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-1321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145" name="_x505951624" descr="EMB000006f0097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9" y="1275606"/>
            <a:ext cx="3343275" cy="3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-1321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147" name="_x505952424" descr="EMB000006f0097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665" y="2679762"/>
            <a:ext cx="4880229" cy="1822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8096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000" dirty="0"/>
              <a:t>AHRS/INS(2007)</a:t>
            </a:r>
            <a:endParaRPr lang="ko-KR" altLang="en-US" sz="30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3" name="_x152447992" descr="EMB000028f4050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599642"/>
            <a:ext cx="2622550" cy="1817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그룹 4"/>
          <p:cNvGrpSpPr/>
          <p:nvPr/>
        </p:nvGrpSpPr>
        <p:grpSpPr>
          <a:xfrm>
            <a:off x="4644008" y="1095586"/>
            <a:ext cx="3708412" cy="3096344"/>
            <a:chOff x="4551166" y="951570"/>
            <a:chExt cx="3708412" cy="3096344"/>
          </a:xfrm>
        </p:grpSpPr>
        <p:sp>
          <p:nvSpPr>
            <p:cNvPr id="4" name="모서리가 둥근 직사각형 3"/>
            <p:cNvSpPr/>
            <p:nvPr/>
          </p:nvSpPr>
          <p:spPr>
            <a:xfrm>
              <a:off x="4551166" y="951570"/>
              <a:ext cx="3708412" cy="504056"/>
            </a:xfrm>
            <a:prstGeom prst="round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무인기 </a:t>
              </a:r>
              <a:r>
                <a:rPr lang="en-US" altLang="ko-KR" dirty="0">
                  <a:solidFill>
                    <a:schemeClr val="tx1"/>
                  </a:solidFill>
                </a:rPr>
                <a:t>Autopilot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모서리가 둥근 직사각형 5"/>
            <p:cNvSpPr/>
            <p:nvPr/>
          </p:nvSpPr>
          <p:spPr>
            <a:xfrm>
              <a:off x="4551166" y="1599642"/>
              <a:ext cx="3708412" cy="504056"/>
            </a:xfrm>
            <a:prstGeom prst="round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실내외 위치추적 장치</a:t>
              </a: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4551166" y="2247714"/>
              <a:ext cx="3708412" cy="504056"/>
            </a:xfrm>
            <a:prstGeom prst="round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차량 주행기록 장치</a:t>
              </a: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4551166" y="2895786"/>
              <a:ext cx="3708412" cy="504056"/>
            </a:xfrm>
            <a:prstGeom prst="round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안테나</a:t>
              </a:r>
              <a:r>
                <a:rPr lang="en-US" altLang="ko-KR" dirty="0">
                  <a:solidFill>
                    <a:schemeClr val="tx1"/>
                  </a:solidFill>
                </a:rPr>
                <a:t>/</a:t>
              </a:r>
              <a:r>
                <a:rPr lang="ko-KR" altLang="en-US" dirty="0">
                  <a:solidFill>
                    <a:schemeClr val="tx1"/>
                  </a:solidFill>
                </a:rPr>
                <a:t>레이다 추적 및 안정화</a:t>
              </a: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4551166" y="3543858"/>
              <a:ext cx="3708412" cy="504056"/>
            </a:xfrm>
            <a:prstGeom prst="round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자세제어</a:t>
              </a:r>
            </a:p>
          </p:txBody>
        </p:sp>
      </p:grpSp>
      <p:sp>
        <p:nvSpPr>
          <p:cNvPr id="10" name="톱니 모양의 오른쪽 화살표 9"/>
          <p:cNvSpPr/>
          <p:nvPr/>
        </p:nvSpPr>
        <p:spPr>
          <a:xfrm>
            <a:off x="3671900" y="2373728"/>
            <a:ext cx="684076" cy="540060"/>
          </a:xfrm>
          <a:prstGeom prst="notched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8768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5917</TotalTime>
  <Words>473</Words>
  <Application>Microsoft Office PowerPoint</Application>
  <PresentationFormat>화면 슬라이드 쇼(16:9)</PresentationFormat>
  <Paragraphs>118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a발레리나</vt:lpstr>
      <vt:lpstr>HY나무L</vt:lpstr>
      <vt:lpstr>굴림</vt:lpstr>
      <vt:lpstr>맑은 고딕</vt:lpstr>
      <vt:lpstr>Arial</vt:lpstr>
      <vt:lpstr>Wingdings</vt:lpstr>
      <vt:lpstr>Office 테마</vt:lpstr>
      <vt:lpstr>PORTFOLIO</vt:lpstr>
      <vt:lpstr>목차</vt:lpstr>
      <vt:lpstr>HYB3(2021)</vt:lpstr>
      <vt:lpstr>HYB1-V2(2021)</vt:lpstr>
      <vt:lpstr>하이브리드 추진 멀티콥터(2018)</vt:lpstr>
      <vt:lpstr>농업용 멀티콥터(2017)</vt:lpstr>
      <vt:lpstr>농업 방제용 멀티콥터(2016)</vt:lpstr>
      <vt:lpstr>PowerPoint 프레젠테이션</vt:lpstr>
      <vt:lpstr>가변피치, 단일 엔진구동 멀티콥터(2015)</vt:lpstr>
      <vt:lpstr>가변피치, 단일 엔진구동 멀티콥터(계속)</vt:lpstr>
      <vt:lpstr>전지형 이동수단(2014)</vt:lpstr>
      <vt:lpstr>휠체어 보조장치(2013)</vt:lpstr>
      <vt:lpstr>위성추적장치(2012)</vt:lpstr>
      <vt:lpstr>경주차용 Data Logger(2009)</vt:lpstr>
      <vt:lpstr>PowerPoint 프레젠테이션</vt:lpstr>
      <vt:lpstr>실내 위치 추적 시스템(2009)</vt:lpstr>
      <vt:lpstr>헬리콥터 오토파일럿(2008)</vt:lpstr>
      <vt:lpstr>AHRS/INS(2007)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</dc:title>
  <dc:creator>Jewon Lee</dc:creator>
  <cp:lastModifiedBy>Jewon Lee</cp:lastModifiedBy>
  <cp:revision>61</cp:revision>
  <dcterms:created xsi:type="dcterms:W3CDTF">2017-02-28T01:33:51Z</dcterms:created>
  <dcterms:modified xsi:type="dcterms:W3CDTF">2026-04-19T15:30:14Z</dcterms:modified>
</cp:coreProperties>
</file>